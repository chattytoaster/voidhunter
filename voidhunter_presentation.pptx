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9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4B6C9-FAC1-4BC2-B3CC-22F49CB9BB3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2C241-F1F2-4DFA-A37C-946D9EBB99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19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2C241-F1F2-4DFA-A37C-946D9EBB996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123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2C241-F1F2-4DFA-A37C-946D9EBB996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175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29075" y="998113"/>
            <a:ext cx="8332630" cy="4861773"/>
          </a:xfrm>
          <a:prstGeom prst="ellipse">
            <a:avLst/>
          </a:prstGeom>
          <a:solidFill>
            <a:srgbClr val="0C0C23"/>
          </a:solidFill>
          <a:ln w="19050">
            <a:solidFill>
              <a:srgbClr val="C8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400" b="1">
                <a:solidFill>
                  <a:srgbClr val="00FFC8"/>
                </a:solidFill>
                <a:latin typeface="Arial"/>
              </a:defRPr>
            </a:pPr>
            <a:r>
              <a:rPr dirty="0"/>
              <a:t>VOIDHUNTER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340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0"/>
              </a:spcAft>
              <a:defRPr sz="2000" i="1">
                <a:solidFill>
                  <a:srgbClr val="F0F0F5"/>
                </a:solidFill>
                <a:latin typeface="Georgia"/>
              </a:defRPr>
            </a:pPr>
            <a:r>
              <a:rPr dirty="0" err="1"/>
              <a:t>Космический</a:t>
            </a:r>
            <a:r>
              <a:rPr dirty="0"/>
              <a:t> </a:t>
            </a:r>
            <a:r>
              <a:rPr dirty="0" err="1"/>
              <a:t>аркадный</a:t>
            </a:r>
            <a:r>
              <a:rPr dirty="0"/>
              <a:t> </a:t>
            </a:r>
            <a:r>
              <a:rPr dirty="0" err="1"/>
              <a:t>шутер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Pygame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958F4B-2B3C-0CD1-2FDB-185B2CD13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084" y="2821084"/>
            <a:ext cx="1215832" cy="12158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64008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00FF"/>
                </a:solidFill>
                <a:latin typeface="Arial"/>
              </a:defRPr>
            </a:pPr>
            <a:r>
              <a:t>01 / КОНЦЕПТ</a:t>
            </a:r>
          </a:p>
          <a:p>
            <a:pPr>
              <a:defRPr sz="2800" b="1">
                <a:solidFill>
                  <a:srgbClr val="00FFC8"/>
                </a:solidFill>
                <a:latin typeface="Arial"/>
              </a:defRPr>
            </a:pPr>
            <a:r>
              <a:t>Концепция и геймплей игры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39292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0F0F5"/>
                </a:solidFill>
                <a:latin typeface="Arial"/>
              </a:defRPr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VoidHunter</a:t>
            </a:r>
            <a:r>
              <a:rPr dirty="0"/>
              <a:t>?</a:t>
            </a:r>
          </a:p>
          <a:p>
            <a:pPr>
              <a:spcAft>
                <a:spcPts val="1400"/>
              </a:spcAft>
              <a:defRPr sz="1500">
                <a:solidFill>
                  <a:srgbClr val="9696A5"/>
                </a:solidFill>
                <a:latin typeface="Arial"/>
              </a:defRPr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динамичный</a:t>
            </a:r>
            <a:r>
              <a:rPr dirty="0"/>
              <a:t> </a:t>
            </a:r>
            <a:r>
              <a:rPr dirty="0" err="1"/>
              <a:t>космический</a:t>
            </a:r>
            <a:r>
              <a:rPr dirty="0"/>
              <a:t> 2D-шутер, </a:t>
            </a:r>
            <a:r>
              <a:rPr dirty="0" err="1"/>
              <a:t>сочетающий</a:t>
            </a:r>
            <a:r>
              <a:rPr dirty="0"/>
              <a:t> </a:t>
            </a:r>
            <a:r>
              <a:rPr dirty="0" err="1"/>
              <a:t>классические</a:t>
            </a:r>
            <a:r>
              <a:rPr dirty="0"/>
              <a:t> </a:t>
            </a:r>
            <a:r>
              <a:rPr dirty="0" err="1"/>
              <a:t>традиции</a:t>
            </a:r>
            <a:r>
              <a:rPr dirty="0"/>
              <a:t> </a:t>
            </a:r>
            <a:r>
              <a:rPr dirty="0" err="1"/>
              <a:t>аркадных</a:t>
            </a:r>
            <a:r>
              <a:rPr dirty="0"/>
              <a:t> </a:t>
            </a:r>
            <a:r>
              <a:rPr dirty="0" err="1"/>
              <a:t>игр</a:t>
            </a:r>
            <a:r>
              <a:rPr dirty="0"/>
              <a:t> в </a:t>
            </a:r>
            <a:r>
              <a:rPr dirty="0" err="1"/>
              <a:t>стиле</a:t>
            </a:r>
            <a:r>
              <a:rPr dirty="0"/>
              <a:t> Asteroids и </a:t>
            </a:r>
            <a:r>
              <a:rPr dirty="0" err="1"/>
              <a:t>современный</a:t>
            </a:r>
            <a:r>
              <a:rPr dirty="0"/>
              <a:t> </a:t>
            </a:r>
            <a:r>
              <a:rPr dirty="0" err="1"/>
              <a:t>чистый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Python. </a:t>
            </a: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игрока</a:t>
            </a:r>
            <a:r>
              <a:rPr dirty="0"/>
              <a:t> — </a:t>
            </a:r>
            <a:r>
              <a:rPr dirty="0" err="1"/>
              <a:t>пилотировать</a:t>
            </a:r>
            <a:r>
              <a:rPr dirty="0"/>
              <a:t> </a:t>
            </a:r>
            <a:r>
              <a:rPr dirty="0" err="1"/>
              <a:t>боевой</a:t>
            </a:r>
            <a:r>
              <a:rPr dirty="0"/>
              <a:t> </a:t>
            </a:r>
            <a:r>
              <a:rPr dirty="0" err="1"/>
              <a:t>корабль</a:t>
            </a:r>
            <a:r>
              <a:rPr dirty="0"/>
              <a:t>, </a:t>
            </a:r>
            <a:r>
              <a:rPr dirty="0" err="1"/>
              <a:t>уворачиваться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метеоритов</a:t>
            </a:r>
            <a:r>
              <a:rPr dirty="0"/>
              <a:t>, </a:t>
            </a:r>
            <a:r>
              <a:rPr dirty="0" err="1"/>
              <a:t>уничтожать</a:t>
            </a:r>
            <a:r>
              <a:rPr dirty="0"/>
              <a:t> </a:t>
            </a:r>
            <a:r>
              <a:rPr dirty="0" err="1"/>
              <a:t>атакующих</a:t>
            </a:r>
            <a:r>
              <a:rPr dirty="0"/>
              <a:t> </a:t>
            </a:r>
            <a:r>
              <a:rPr dirty="0" err="1"/>
              <a:t>дронов</a:t>
            </a:r>
            <a:r>
              <a:rPr dirty="0"/>
              <a:t> и </a:t>
            </a:r>
            <a:r>
              <a:rPr dirty="0" err="1"/>
              <a:t>собирать</a:t>
            </a:r>
            <a:r>
              <a:rPr dirty="0"/>
              <a:t> </a:t>
            </a:r>
            <a:r>
              <a:rPr dirty="0" err="1"/>
              <a:t>ценную</a:t>
            </a:r>
            <a:r>
              <a:rPr dirty="0"/>
              <a:t> </a:t>
            </a:r>
            <a:r>
              <a:rPr dirty="0" err="1"/>
              <a:t>энергию</a:t>
            </a:r>
            <a:r>
              <a:rPr dirty="0"/>
              <a:t> </a:t>
            </a:r>
            <a:r>
              <a:rPr dirty="0" err="1"/>
              <a:t>VoidCore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600" b="1">
                <a:solidFill>
                  <a:srgbClr val="F0F0F5"/>
                </a:solidFill>
                <a:latin typeface="Arial"/>
              </a:defRPr>
            </a:pP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особенности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400">
                <a:solidFill>
                  <a:srgbClr val="F0F0F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Бесконечный</a:t>
            </a:r>
            <a:r>
              <a:rPr dirty="0"/>
              <a:t> </a:t>
            </a:r>
            <a:r>
              <a:rPr dirty="0" err="1"/>
              <a:t>игровой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с </a:t>
            </a:r>
            <a:r>
              <a:rPr dirty="0" err="1"/>
              <a:t>нарастающей</a:t>
            </a:r>
            <a:r>
              <a:rPr dirty="0"/>
              <a:t> </a:t>
            </a:r>
            <a:r>
              <a:rPr dirty="0" err="1"/>
              <a:t>сложностью</a:t>
            </a:r>
            <a:r>
              <a:rPr dirty="0"/>
              <a:t> (</a:t>
            </a:r>
            <a:r>
              <a:rPr dirty="0" err="1"/>
              <a:t>волны</a:t>
            </a:r>
            <a:r>
              <a:rPr dirty="0"/>
              <a:t> </a:t>
            </a:r>
            <a:r>
              <a:rPr dirty="0" err="1"/>
              <a:t>спавна</a:t>
            </a:r>
            <a:r>
              <a:rPr dirty="0"/>
              <a:t>).</a:t>
            </a:r>
          </a:p>
          <a:p>
            <a:pPr>
              <a:spcAft>
                <a:spcPts val="600"/>
              </a:spcAft>
              <a:defRPr sz="1400">
                <a:solidFill>
                  <a:srgbClr val="F0F0F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Интуитивное</a:t>
            </a:r>
            <a:r>
              <a:rPr dirty="0"/>
              <a:t> </a:t>
            </a:r>
            <a:r>
              <a:rPr dirty="0" err="1"/>
              <a:t>управление</a:t>
            </a:r>
            <a:r>
              <a:rPr dirty="0"/>
              <a:t>: WASD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маневров</a:t>
            </a:r>
            <a:r>
              <a:rPr dirty="0"/>
              <a:t> + </a:t>
            </a:r>
            <a:r>
              <a:rPr dirty="0" err="1"/>
              <a:t>мышь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наведения</a:t>
            </a:r>
            <a:r>
              <a:rPr dirty="0"/>
              <a:t> </a:t>
            </a:r>
            <a:r>
              <a:rPr lang="ru-RU" dirty="0"/>
              <a:t>атаки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400">
                <a:solidFill>
                  <a:srgbClr val="F0F0F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Плавная</a:t>
            </a:r>
            <a:r>
              <a:rPr dirty="0"/>
              <a:t> 2D-физика </a:t>
            </a:r>
            <a:r>
              <a:rPr dirty="0" err="1"/>
              <a:t>движения</a:t>
            </a:r>
            <a:r>
              <a:rPr dirty="0"/>
              <a:t> и </a:t>
            </a:r>
            <a:r>
              <a:rPr dirty="0" err="1"/>
              <a:t>инерции</a:t>
            </a:r>
            <a:r>
              <a:rPr dirty="0"/>
              <a:t> </a:t>
            </a:r>
            <a:r>
              <a:rPr dirty="0" err="1"/>
              <a:t>космического</a:t>
            </a:r>
            <a:r>
              <a:rPr dirty="0"/>
              <a:t> </a:t>
            </a:r>
            <a:r>
              <a:rPr dirty="0" err="1"/>
              <a:t>корабля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400">
                <a:solidFill>
                  <a:srgbClr val="F0F0F5"/>
                </a:solidFill>
                <a:latin typeface="Arial"/>
              </a:defRPr>
            </a:pPr>
            <a:r>
              <a:rPr dirty="0"/>
              <a:t>• </a:t>
            </a:r>
            <a:r>
              <a:rPr lang="ru-RU" dirty="0"/>
              <a:t>О</a:t>
            </a:r>
            <a:r>
              <a:rPr dirty="0" err="1"/>
              <a:t>птимизированный</a:t>
            </a:r>
            <a:r>
              <a:rPr dirty="0"/>
              <a:t> </a:t>
            </a:r>
            <a:r>
              <a:rPr dirty="0" err="1"/>
              <a:t>рендеринг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стабильных</a:t>
            </a:r>
            <a:r>
              <a:rPr dirty="0"/>
              <a:t> 60 FPS.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1188720"/>
          </a:xfrm>
          <a:prstGeom prst="roundRect">
            <a:avLst/>
          </a:prstGeom>
          <a:solidFill>
            <a:srgbClr val="121220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defRPr sz="3600" b="1">
                <a:solidFill>
                  <a:srgbClr val="00FFC8"/>
                </a:solidFill>
                <a:latin typeface="Georgia"/>
              </a:defRPr>
            </a:pPr>
            <a:r>
              <a:rPr dirty="0"/>
              <a:t>60 FPS</a:t>
            </a:r>
          </a:p>
          <a:p>
            <a:pPr algn="ctr">
              <a:spcBef>
                <a:spcPts val="200"/>
              </a:spcBef>
              <a:defRPr sz="1200">
                <a:solidFill>
                  <a:srgbClr val="9696A5"/>
                </a:solidFill>
                <a:latin typeface="Arial"/>
              </a:defRPr>
            </a:pPr>
            <a:r>
              <a:rPr dirty="0" err="1"/>
              <a:t>Стабильная</a:t>
            </a:r>
            <a:r>
              <a:rPr dirty="0"/>
              <a:t> </a:t>
            </a:r>
            <a:r>
              <a:rPr dirty="0" err="1"/>
              <a:t>кадровая</a:t>
            </a:r>
            <a:r>
              <a:rPr dirty="0"/>
              <a:t> </a:t>
            </a:r>
            <a:r>
              <a:rPr dirty="0" err="1"/>
              <a:t>частота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315200" y="3108960"/>
            <a:ext cx="4114800" cy="1188720"/>
          </a:xfrm>
          <a:prstGeom prst="roundRect">
            <a:avLst/>
          </a:prstGeom>
          <a:solidFill>
            <a:srgbClr val="121220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defRPr sz="3600" b="1">
                <a:solidFill>
                  <a:srgbClr val="FFFF64"/>
                </a:solidFill>
                <a:latin typeface="Georgia"/>
              </a:defRPr>
            </a:pPr>
            <a:r>
              <a:rPr dirty="0"/>
              <a:t>2 </a:t>
            </a:r>
            <a:r>
              <a:rPr lang="ru-RU" dirty="0"/>
              <a:t>т</a:t>
            </a:r>
            <a:r>
              <a:rPr dirty="0" err="1"/>
              <a:t>ипа</a:t>
            </a:r>
            <a:endParaRPr dirty="0"/>
          </a:p>
          <a:p>
            <a:pPr algn="ctr">
              <a:spcBef>
                <a:spcPts val="200"/>
              </a:spcBef>
              <a:defRPr sz="1200">
                <a:solidFill>
                  <a:srgbClr val="9696A5"/>
                </a:solidFill>
                <a:latin typeface="Arial"/>
              </a:defRPr>
            </a:pPr>
            <a:r>
              <a:rPr dirty="0" err="1"/>
              <a:t>Уникальных</a:t>
            </a:r>
            <a:r>
              <a:rPr dirty="0"/>
              <a:t> </a:t>
            </a:r>
            <a:r>
              <a:rPr dirty="0" err="1"/>
              <a:t>врагов</a:t>
            </a:r>
            <a:r>
              <a:rPr dirty="0"/>
              <a:t> (Drone, Meteorite)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572000"/>
            <a:ext cx="4114800" cy="1188720"/>
          </a:xfrm>
          <a:prstGeom prst="roundRect">
            <a:avLst/>
          </a:prstGeom>
          <a:solidFill>
            <a:srgbClr val="121220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defRPr sz="3600" b="1">
                <a:solidFill>
                  <a:srgbClr val="C800FF"/>
                </a:solidFill>
                <a:latin typeface="Georgia"/>
              </a:defRPr>
            </a:pPr>
            <a:r>
              <a:rPr dirty="0"/>
              <a:t>Pygame</a:t>
            </a:r>
          </a:p>
          <a:p>
            <a:pPr algn="ctr">
              <a:spcBef>
                <a:spcPts val="200"/>
              </a:spcBef>
              <a:defRPr sz="1200">
                <a:solidFill>
                  <a:srgbClr val="9696A5"/>
                </a:solidFill>
                <a:latin typeface="Arial"/>
              </a:defRPr>
            </a:pP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фреймворк</a:t>
            </a:r>
            <a:r>
              <a:rPr dirty="0"/>
              <a:t> </a:t>
            </a:r>
            <a:r>
              <a:rPr dirty="0" err="1"/>
              <a:t>разработки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64008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00FF"/>
                </a:solidFill>
                <a:latin typeface="Arial"/>
              </a:defRPr>
            </a:pPr>
            <a:r>
              <a:t>02 / УПРАВЛЕНИЕ</a:t>
            </a:r>
          </a:p>
          <a:p>
            <a:pPr>
              <a:defRPr sz="2800" b="1">
                <a:solidFill>
                  <a:srgbClr val="00FFC8"/>
                </a:solidFill>
                <a:latin typeface="Arial"/>
              </a:defRPr>
            </a:pPr>
            <a:r>
              <a:t>Управление и игровой цикл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93192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9696A5"/>
                </a:solidFill>
                <a:latin typeface="Arial"/>
              </a:defRPr>
            </a:pPr>
            <a:r>
              <a:rPr dirty="0"/>
              <a:t>ПИЛОТИРОВАНИЕ</a:t>
            </a:r>
          </a:p>
          <a:p>
            <a:pPr algn="ctr">
              <a:spcAft>
                <a:spcPts val="1400"/>
              </a:spcAft>
              <a:defRPr sz="3200" b="1">
                <a:solidFill>
                  <a:srgbClr val="00FFC8"/>
                </a:solidFill>
                <a:latin typeface="Georgia"/>
              </a:defRPr>
            </a:pPr>
            <a:r>
              <a:rPr dirty="0"/>
              <a:t>WASD</a:t>
            </a:r>
            <a:endParaRPr lang="ru-RU" dirty="0"/>
          </a:p>
          <a:p>
            <a:pPr algn="ctr">
              <a:spcAft>
                <a:spcPts val="1400"/>
              </a:spcAft>
              <a:defRPr sz="3200" b="1">
                <a:solidFill>
                  <a:srgbClr val="00FFC8"/>
                </a:solidFill>
                <a:latin typeface="Georgia"/>
              </a:defRPr>
            </a:pPr>
            <a:r>
              <a:rPr lang="ru-RU" dirty="0"/>
              <a:t>Мышь</a:t>
            </a:r>
            <a:endParaRPr dirty="0"/>
          </a:p>
          <a:p>
            <a:pPr algn="ctr">
              <a:spcBef>
                <a:spcPts val="600"/>
              </a:spcBef>
              <a:defRPr sz="1400">
                <a:solidFill>
                  <a:srgbClr val="F0F0F5"/>
                </a:solidFill>
                <a:latin typeface="Arial"/>
              </a:defRPr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движением</a:t>
            </a:r>
            <a:r>
              <a:rPr dirty="0"/>
              <a:t> </a:t>
            </a:r>
            <a:r>
              <a:rPr dirty="0" err="1"/>
              <a:t>корабля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направлениях</a:t>
            </a:r>
            <a:r>
              <a:rPr dirty="0"/>
              <a:t>. </a:t>
            </a:r>
            <a:r>
              <a:rPr dirty="0" err="1"/>
              <a:t>Реализована</a:t>
            </a:r>
            <a:r>
              <a:rPr dirty="0"/>
              <a:t> </a:t>
            </a:r>
            <a:r>
              <a:rPr dirty="0" err="1"/>
              <a:t>плавная</a:t>
            </a:r>
            <a:r>
              <a:rPr dirty="0"/>
              <a:t> </a:t>
            </a:r>
            <a:r>
              <a:rPr dirty="0" err="1"/>
              <a:t>физика</a:t>
            </a:r>
            <a:r>
              <a:rPr dirty="0"/>
              <a:t> </a:t>
            </a:r>
            <a:r>
              <a:rPr dirty="0" err="1"/>
              <a:t>ускорения</a:t>
            </a:r>
            <a:r>
              <a:rPr dirty="0"/>
              <a:t> и </a:t>
            </a:r>
            <a:r>
              <a:rPr dirty="0" err="1"/>
              <a:t>торможения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393192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FF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9696A5"/>
                </a:solidFill>
                <a:latin typeface="Arial"/>
              </a:defRPr>
            </a:pPr>
            <a:r>
              <a:rPr dirty="0"/>
              <a:t>ВЕДЕНИЕ ОГНЯ</a:t>
            </a:r>
          </a:p>
          <a:p>
            <a:pPr algn="ctr">
              <a:spcAft>
                <a:spcPts val="1400"/>
              </a:spcAft>
              <a:defRPr sz="3200" b="1">
                <a:solidFill>
                  <a:srgbClr val="FFFF64"/>
                </a:solidFill>
                <a:latin typeface="Georgia"/>
              </a:defRPr>
            </a:pPr>
            <a:r>
              <a:rPr lang="ru-RU" dirty="0"/>
              <a:t>ЛКМ</a:t>
            </a:r>
          </a:p>
          <a:p>
            <a:pPr algn="ctr">
              <a:spcAft>
                <a:spcPts val="1400"/>
              </a:spcAft>
              <a:defRPr sz="3200" b="1">
                <a:solidFill>
                  <a:srgbClr val="FFFF64"/>
                </a:solidFill>
                <a:latin typeface="Georgia"/>
              </a:defRPr>
            </a:pPr>
            <a:r>
              <a:rPr lang="ru-RU" dirty="0"/>
              <a:t>Пробел</a:t>
            </a:r>
            <a:endParaRPr dirty="0"/>
          </a:p>
          <a:p>
            <a:pPr algn="ctr">
              <a:spcBef>
                <a:spcPts val="600"/>
              </a:spcBef>
              <a:defRPr sz="1400">
                <a:solidFill>
                  <a:srgbClr val="F0F0F5"/>
                </a:solidFill>
                <a:latin typeface="Arial"/>
              </a:defRPr>
            </a:pPr>
            <a:r>
              <a:rPr dirty="0" err="1"/>
              <a:t>Стрельба</a:t>
            </a:r>
            <a:r>
              <a:rPr dirty="0"/>
              <a:t> </a:t>
            </a:r>
            <a:r>
              <a:rPr dirty="0" err="1"/>
              <a:t>лазерными</a:t>
            </a:r>
            <a:r>
              <a:rPr dirty="0"/>
              <a:t> </a:t>
            </a:r>
            <a:r>
              <a:rPr dirty="0" err="1"/>
              <a:t>снарядами</a:t>
            </a:r>
            <a:r>
              <a:rPr dirty="0"/>
              <a:t>. </a:t>
            </a:r>
            <a:r>
              <a:rPr dirty="0" err="1"/>
              <a:t>Направление</a:t>
            </a:r>
            <a:r>
              <a:rPr dirty="0"/>
              <a:t> </a:t>
            </a:r>
            <a:r>
              <a:rPr dirty="0" err="1"/>
              <a:t>пули</a:t>
            </a:r>
            <a:r>
              <a:rPr dirty="0"/>
              <a:t> </a:t>
            </a:r>
            <a:r>
              <a:rPr dirty="0" err="1"/>
              <a:t>рассчитывается</a:t>
            </a:r>
            <a:r>
              <a:rPr dirty="0"/>
              <a:t> </a:t>
            </a:r>
            <a:r>
              <a:rPr dirty="0" err="1"/>
              <a:t>точно</a:t>
            </a:r>
            <a:r>
              <a:rPr dirty="0"/>
              <a:t> в </a:t>
            </a:r>
            <a:r>
              <a:rPr dirty="0" err="1"/>
              <a:t>точку</a:t>
            </a:r>
            <a:r>
              <a:rPr dirty="0"/>
              <a:t> </a:t>
            </a:r>
            <a:r>
              <a:rPr dirty="0" err="1"/>
              <a:t>курсора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экране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393192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C8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9696A5"/>
                </a:solidFill>
                <a:latin typeface="Arial"/>
              </a:defRPr>
            </a:pPr>
            <a:r>
              <a:rPr dirty="0"/>
              <a:t>ЦЕЛЬ ИГРЫ</a:t>
            </a:r>
          </a:p>
          <a:p>
            <a:pPr algn="ctr">
              <a:spcAft>
                <a:spcPts val="1400"/>
              </a:spcAft>
              <a:defRPr sz="3200" b="1">
                <a:solidFill>
                  <a:srgbClr val="C800FF"/>
                </a:solidFill>
                <a:latin typeface="Georgia"/>
              </a:defRPr>
            </a:pPr>
            <a:r>
              <a:rPr lang="ru-RU" dirty="0"/>
              <a:t>Выжить</a:t>
            </a:r>
            <a:endParaRPr dirty="0"/>
          </a:p>
          <a:p>
            <a:pPr algn="ctr">
              <a:spcBef>
                <a:spcPts val="600"/>
              </a:spcBef>
              <a:defRPr sz="1400">
                <a:solidFill>
                  <a:srgbClr val="F0F0F5"/>
                </a:solidFill>
                <a:latin typeface="Arial"/>
              </a:defRPr>
            </a:pPr>
            <a:r>
              <a:rPr dirty="0" err="1"/>
              <a:t>Уничтожайте</a:t>
            </a:r>
            <a:r>
              <a:rPr dirty="0"/>
              <a:t> </a:t>
            </a:r>
            <a:r>
              <a:rPr dirty="0" err="1"/>
              <a:t>врагов</a:t>
            </a:r>
            <a:r>
              <a:rPr dirty="0"/>
              <a:t>, </a:t>
            </a:r>
            <a:r>
              <a:rPr dirty="0" err="1"/>
              <a:t>уклоняйтесь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столкновений</a:t>
            </a:r>
            <a:r>
              <a:rPr dirty="0"/>
              <a:t>, </a:t>
            </a:r>
            <a:r>
              <a:rPr dirty="0" err="1"/>
              <a:t>собирайте</a:t>
            </a:r>
            <a:r>
              <a:rPr dirty="0"/>
              <a:t> </a:t>
            </a:r>
            <a:r>
              <a:rPr dirty="0" err="1"/>
              <a:t>VoidCore</a:t>
            </a:r>
            <a:r>
              <a:rPr dirty="0"/>
              <a:t> и </a:t>
            </a:r>
            <a:r>
              <a:rPr dirty="0" err="1"/>
              <a:t>побеждайте</a:t>
            </a:r>
            <a:r>
              <a:rPr dirty="0"/>
              <a:t> </a:t>
            </a:r>
            <a:r>
              <a:rPr dirty="0" err="1"/>
              <a:t>волну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волной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64008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00FF"/>
                </a:solidFill>
                <a:latin typeface="Arial"/>
              </a:defRPr>
            </a:pPr>
            <a:r>
              <a:t>03 / ПРОТИВНИКИ</a:t>
            </a:r>
          </a:p>
          <a:p>
            <a:pPr>
              <a:defRPr sz="2800" b="1">
                <a:solidFill>
                  <a:srgbClr val="00FFC8"/>
                </a:solidFill>
                <a:latin typeface="Arial"/>
              </a:defRPr>
            </a:pPr>
            <a:r>
              <a:t>Классы космических противников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393192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F5050"/>
                </a:solidFill>
                <a:latin typeface="Arial"/>
              </a:defRPr>
            </a:pPr>
            <a:r>
              <a:rPr dirty="0"/>
              <a:t>БОЕВОЙ ДРОН</a:t>
            </a:r>
          </a:p>
          <a:p>
            <a:pPr>
              <a:spcAft>
                <a:spcPts val="1600"/>
              </a:spcAft>
              <a:defRPr sz="1500">
                <a:solidFill>
                  <a:srgbClr val="F0F0F5"/>
                </a:solidFill>
                <a:latin typeface="Arial"/>
              </a:defRPr>
            </a:pPr>
            <a:r>
              <a:rPr dirty="0" err="1"/>
              <a:t>Быстрый</a:t>
            </a:r>
            <a:r>
              <a:rPr dirty="0"/>
              <a:t> и </a:t>
            </a:r>
            <a:r>
              <a:rPr dirty="0" err="1"/>
              <a:t>навязчивый</a:t>
            </a:r>
            <a:r>
              <a:rPr dirty="0"/>
              <a:t> </a:t>
            </a:r>
            <a:r>
              <a:rPr dirty="0" err="1"/>
              <a:t>противник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спавнится</a:t>
            </a:r>
            <a:r>
              <a:rPr dirty="0"/>
              <a:t> </a:t>
            </a:r>
            <a:r>
              <a:rPr dirty="0" err="1"/>
              <a:t>волнами</a:t>
            </a:r>
            <a:r>
              <a:rPr dirty="0"/>
              <a:t>.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вычисляет</a:t>
            </a:r>
            <a:r>
              <a:rPr dirty="0"/>
              <a:t> </a:t>
            </a:r>
            <a:r>
              <a:rPr dirty="0" err="1"/>
              <a:t>позицию</a:t>
            </a:r>
            <a:r>
              <a:rPr dirty="0"/>
              <a:t> </a:t>
            </a:r>
            <a:r>
              <a:rPr dirty="0" err="1"/>
              <a:t>игрока</a:t>
            </a:r>
            <a:r>
              <a:rPr dirty="0"/>
              <a:t> и </a:t>
            </a:r>
            <a:r>
              <a:rPr dirty="0" err="1"/>
              <a:t>постоянно</a:t>
            </a:r>
            <a:r>
              <a:rPr dirty="0"/>
              <a:t> </a:t>
            </a:r>
            <a:r>
              <a:rPr dirty="0" err="1"/>
              <a:t>преследует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корабль</a:t>
            </a:r>
            <a:r>
              <a:rPr dirty="0"/>
              <a:t> с </a:t>
            </a:r>
            <a:r>
              <a:rPr dirty="0" err="1"/>
              <a:t>целью</a:t>
            </a:r>
            <a:r>
              <a:rPr dirty="0"/>
              <a:t> </a:t>
            </a:r>
            <a:r>
              <a:rPr dirty="0" err="1"/>
              <a:t>нанести</a:t>
            </a:r>
            <a:r>
              <a:rPr dirty="0"/>
              <a:t> </a:t>
            </a:r>
            <a:r>
              <a:rPr dirty="0" err="1"/>
              <a:t>урон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соприкосновении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перемещения</a:t>
            </a:r>
            <a:r>
              <a:rPr dirty="0"/>
              <a:t>: 150 </a:t>
            </a:r>
            <a:r>
              <a:rPr dirty="0" err="1"/>
              <a:t>px</a:t>
            </a:r>
            <a:r>
              <a:rPr dirty="0"/>
              <a:t>/s</a:t>
            </a:r>
          </a:p>
          <a:p>
            <a:pPr>
              <a:spcAft>
                <a:spcPts val="4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Очки</a:t>
            </a:r>
            <a:r>
              <a:rPr dirty="0"/>
              <a:t> </a:t>
            </a:r>
            <a:r>
              <a:rPr dirty="0" err="1"/>
              <a:t>здоровья</a:t>
            </a:r>
            <a:r>
              <a:rPr dirty="0"/>
              <a:t> (HP): 1 </a:t>
            </a:r>
            <a:r>
              <a:rPr dirty="0" err="1"/>
              <a:t>ед</a:t>
            </a:r>
            <a:r>
              <a:rPr dirty="0"/>
              <a:t>. (</a:t>
            </a:r>
            <a:r>
              <a:rPr dirty="0" err="1"/>
              <a:t>уничтожается</a:t>
            </a:r>
            <a:r>
              <a:rPr dirty="0"/>
              <a:t> с 1 </a:t>
            </a:r>
            <a:r>
              <a:rPr dirty="0" err="1"/>
              <a:t>пули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Наносимый</a:t>
            </a:r>
            <a:r>
              <a:rPr dirty="0"/>
              <a:t> </a:t>
            </a:r>
            <a:r>
              <a:rPr dirty="0" err="1"/>
              <a:t>урон</a:t>
            </a:r>
            <a:r>
              <a:rPr dirty="0"/>
              <a:t>: 1 </a:t>
            </a:r>
            <a:r>
              <a:rPr dirty="0" err="1"/>
              <a:t>ед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Очки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уничтожение</a:t>
            </a:r>
            <a:r>
              <a:rPr dirty="0"/>
              <a:t>: 10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393192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B4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B4825A"/>
                </a:solidFill>
                <a:latin typeface="Arial"/>
              </a:defRPr>
            </a:pPr>
            <a:r>
              <a:rPr dirty="0"/>
              <a:t>ТЯЖЕЛЫЙ МЕТЕОРИТ</a:t>
            </a:r>
            <a:r>
              <a:rPr lang="ru-RU" dirty="0"/>
              <a:t> </a:t>
            </a:r>
          </a:p>
          <a:p>
            <a:pPr>
              <a:spcAft>
                <a:spcPts val="1600"/>
              </a:spcAft>
              <a:defRPr sz="1500">
                <a:solidFill>
                  <a:srgbClr val="F0F0F5"/>
                </a:solidFill>
                <a:latin typeface="Arial"/>
              </a:defRPr>
            </a:pPr>
            <a:r>
              <a:rPr lang="ru-RU" dirty="0"/>
              <a:t>Крупный и медленный космический объект, пролетающий через экран по прямой траектории. Обладает высоким запасом прочности и наносит огромный урон кораблю.</a:t>
            </a:r>
          </a:p>
          <a:p>
            <a:pPr>
              <a:spcAft>
                <a:spcPts val="4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перемещения</a:t>
            </a:r>
            <a:r>
              <a:rPr dirty="0"/>
              <a:t>: 100 </a:t>
            </a:r>
            <a:r>
              <a:rPr dirty="0" err="1"/>
              <a:t>px</a:t>
            </a:r>
            <a:r>
              <a:rPr dirty="0"/>
              <a:t>/s</a:t>
            </a:r>
          </a:p>
          <a:p>
            <a:pPr>
              <a:spcAft>
                <a:spcPts val="4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Очки</a:t>
            </a:r>
            <a:r>
              <a:rPr dirty="0"/>
              <a:t> </a:t>
            </a:r>
            <a:r>
              <a:rPr dirty="0" err="1"/>
              <a:t>здоровья</a:t>
            </a:r>
            <a:r>
              <a:rPr dirty="0"/>
              <a:t> (HP): 5 </a:t>
            </a:r>
            <a:r>
              <a:rPr dirty="0" err="1"/>
              <a:t>ед</a:t>
            </a:r>
            <a:r>
              <a:rPr dirty="0"/>
              <a:t>. (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выстрелов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Наносимый</a:t>
            </a:r>
            <a:r>
              <a:rPr dirty="0"/>
              <a:t> </a:t>
            </a:r>
            <a:r>
              <a:rPr dirty="0" err="1"/>
              <a:t>урон</a:t>
            </a:r>
            <a:r>
              <a:rPr dirty="0"/>
              <a:t>: 2 </a:t>
            </a:r>
            <a:r>
              <a:rPr dirty="0" err="1"/>
              <a:t>ед</a:t>
            </a:r>
            <a:r>
              <a:rPr dirty="0"/>
              <a:t>. </a:t>
            </a:r>
          </a:p>
          <a:p>
            <a:pPr>
              <a:spcAft>
                <a:spcPts val="4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Очки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уничтожение</a:t>
            </a:r>
            <a:r>
              <a:rPr dirty="0"/>
              <a:t>: 50 Score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7D041C-18E5-0D4C-B27F-66E76255D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00170"/>
            <a:ext cx="1202887" cy="120288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E44B234-C260-B73A-7030-8EA9E32AA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52" y="1884983"/>
            <a:ext cx="1091592" cy="1091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64008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00FF"/>
                </a:solidFill>
                <a:latin typeface="Arial"/>
              </a:defRPr>
            </a:pPr>
            <a:r>
              <a:t>04 / ЭНЕРГИЯ</a:t>
            </a:r>
          </a:p>
          <a:p>
            <a:pPr>
              <a:defRPr sz="2800" b="1">
                <a:solidFill>
                  <a:srgbClr val="00FFC8"/>
                </a:solidFill>
                <a:latin typeface="Arial"/>
              </a:defRPr>
            </a:pPr>
            <a:r>
              <a:t>Игровая валюта и прогресс — VoidCore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14800" cy="3931920"/>
          </a:xfrm>
          <a:prstGeom prst="roundRect">
            <a:avLst/>
          </a:prstGeom>
          <a:solidFill>
            <a:srgbClr val="190A23"/>
          </a:solidFill>
          <a:ln w="25400">
            <a:solidFill>
              <a:srgbClr val="C8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0" rtlCol="0" anchor="ctr"/>
          <a:lstStyle/>
          <a:p>
            <a:pPr algn="ctr">
              <a:defRPr sz="4000" b="1">
                <a:solidFill>
                  <a:srgbClr val="C800FF"/>
                </a:solidFill>
                <a:latin typeface="Arial"/>
              </a:defRPr>
            </a:pPr>
            <a:r>
              <a:rPr dirty="0"/>
              <a:t>VOID CORE</a:t>
            </a:r>
          </a:p>
          <a:p>
            <a:pPr algn="ctr">
              <a:spcBef>
                <a:spcPts val="400"/>
              </a:spcBef>
              <a:defRPr sz="1400">
                <a:solidFill>
                  <a:srgbClr val="9696A5"/>
                </a:solidFill>
                <a:latin typeface="Arial"/>
              </a:defRPr>
            </a:pP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сбора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61264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0F0F5"/>
                </a:solidFill>
                <a:latin typeface="Arial"/>
              </a:defRPr>
            </a:pPr>
            <a:r>
              <a:t>Механика сбора и риска</a:t>
            </a:r>
          </a:p>
          <a:p>
            <a:pPr>
              <a:spcBef>
                <a:spcPts val="800"/>
              </a:spcBef>
              <a:defRPr sz="1500" b="1">
                <a:solidFill>
                  <a:srgbClr val="00FFC8"/>
                </a:solidFill>
                <a:latin typeface="Arial"/>
              </a:defRPr>
            </a:pPr>
            <a:r>
              <a:t>✔ Шанс выпадения 50%:</a:t>
            </a:r>
          </a:p>
          <a:p>
            <a:pPr>
              <a:spcAft>
                <a:spcPts val="6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t>Каждый уничтоженный враг (как дрон, так и метеорит) имеет вероятность оставить после себя фиолетовое ядро VoidCore.</a:t>
            </a:r>
          </a:p>
          <a:p>
            <a:pPr>
              <a:spcBef>
                <a:spcPts val="800"/>
              </a:spcBef>
              <a:defRPr sz="1500" b="1">
                <a:solidFill>
                  <a:srgbClr val="00FFC8"/>
                </a:solidFill>
                <a:latin typeface="Arial"/>
              </a:defRPr>
            </a:pPr>
            <a:r>
              <a:t>✔ Риск и Награда:</a:t>
            </a:r>
          </a:p>
          <a:p>
            <a:pPr>
              <a:spcAft>
                <a:spcPts val="6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t>Ядра выпадают в точках гибели врагов, часто прямо на линии огня или спавна новых угроз. Чтобы подбирать их, игроку нужно постоянно двигаться в опасные зоны.</a:t>
            </a:r>
          </a:p>
          <a:p>
            <a:pPr>
              <a:spcBef>
                <a:spcPts val="800"/>
              </a:spcBef>
              <a:defRPr sz="1500" b="1">
                <a:solidFill>
                  <a:srgbClr val="00FFC8"/>
                </a:solidFill>
                <a:latin typeface="Arial"/>
              </a:defRPr>
            </a:pPr>
            <a:r>
              <a:t>✔ Механика автопритяжения:</a:t>
            </a:r>
          </a:p>
          <a:p>
            <a:pPr>
              <a:spcAft>
                <a:spcPts val="6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t>Для удобства геймплея у корабля игрока есть небольшой радиус сбора: ядра плавно притягиваются к кораблю при сближении.</a:t>
            </a:r>
          </a:p>
          <a:p>
            <a:pPr>
              <a:spcBef>
                <a:spcPts val="800"/>
              </a:spcBef>
              <a:defRPr sz="1500" b="1">
                <a:solidFill>
                  <a:srgbClr val="00FFC8"/>
                </a:solidFill>
                <a:latin typeface="Arial"/>
              </a:defRPr>
            </a:pPr>
            <a:r>
              <a:t>✔ Счетчик и Улучшения:</a:t>
            </a:r>
          </a:p>
          <a:p>
            <a:pPr>
              <a:spcAft>
                <a:spcPts val="6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t>Количество собранных VoidCore отображается на игровом UI и служит валютой улучшения боевых характеристик корабля.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1BFE88B-85E5-878B-CEC0-BB5E2E80E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054" y="1645920"/>
            <a:ext cx="2633731" cy="26337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64008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058400" cy="6258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00FF"/>
                </a:solidFill>
                <a:latin typeface="Arial"/>
              </a:defRPr>
            </a:pPr>
            <a:r>
              <a:rPr dirty="0"/>
              <a:t>05 / КОМАНДА</a:t>
            </a:r>
          </a:p>
          <a:p>
            <a:pPr>
              <a:defRPr sz="2800" b="1">
                <a:solidFill>
                  <a:srgbClr val="00FFC8"/>
                </a:solidFill>
                <a:latin typeface="Arial"/>
              </a:defRPr>
            </a:pPr>
            <a:r>
              <a:rPr dirty="0" err="1"/>
              <a:t>Распределенная</a:t>
            </a:r>
            <a:r>
              <a:rPr dirty="0"/>
              <a:t> </a:t>
            </a:r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проект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93192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defRPr sz="1300" b="1">
                <a:solidFill>
                  <a:srgbClr val="00FFC8"/>
                </a:solidFill>
                <a:latin typeface="Arial"/>
              </a:defRPr>
            </a:pPr>
            <a:r>
              <a:rPr lang="ru-RU" dirty="0"/>
              <a:t>Данил</a:t>
            </a:r>
            <a:endParaRPr dirty="0"/>
          </a:p>
          <a:p>
            <a:pPr algn="ctr">
              <a:spcAft>
                <a:spcPts val="800"/>
              </a:spcAft>
              <a:defRPr sz="1600" b="1">
                <a:solidFill>
                  <a:srgbClr val="F0F0F5"/>
                </a:solidFill>
                <a:latin typeface="Arial"/>
              </a:defRPr>
            </a:pPr>
            <a:r>
              <a:rPr dirty="0"/>
              <a:t>Core Game &amp; Physics</a:t>
            </a:r>
          </a:p>
          <a:p>
            <a:pPr algn="ctr">
              <a:spcAft>
                <a:spcPts val="1200"/>
              </a:spcAft>
              <a:defRPr sz="1100">
                <a:solidFill>
                  <a:srgbClr val="00FFC8"/>
                </a:solidFill>
                <a:latin typeface="Courier New"/>
              </a:defRPr>
            </a:pPr>
            <a:r>
              <a:rPr dirty="0" err="1"/>
              <a:t>Файлы</a:t>
            </a:r>
            <a:r>
              <a:rPr dirty="0"/>
              <a:t>: main.py,</a:t>
            </a:r>
            <a:r>
              <a:rPr lang="ru-RU" dirty="0"/>
              <a:t> </a:t>
            </a:r>
            <a:r>
              <a:rPr lang="en-US" dirty="0"/>
              <a:t>config.py</a:t>
            </a:r>
            <a:r>
              <a:rPr dirty="0"/>
              <a:t> game.py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F0F0F5"/>
                </a:solidFill>
                <a:latin typeface="Arial"/>
              </a:defRPr>
            </a:pPr>
            <a:r>
              <a:rPr dirty="0" err="1"/>
              <a:t>Обязанности</a:t>
            </a:r>
            <a:r>
              <a:rPr dirty="0"/>
              <a:t>:</a:t>
            </a:r>
          </a:p>
          <a:p>
            <a:pPr algn="ctr">
              <a:spcAft>
                <a:spcPts val="400"/>
              </a:spcAft>
              <a:defRPr sz="115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игры</a:t>
            </a:r>
            <a:r>
              <a:rPr dirty="0"/>
              <a:t> (Game).</a:t>
            </a:r>
          </a:p>
          <a:p>
            <a:pPr algn="ctr">
              <a:spcAft>
                <a:spcPts val="400"/>
              </a:spcAft>
              <a:defRPr sz="115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Игровой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(Update &amp; Render).</a:t>
            </a:r>
          </a:p>
          <a:p>
            <a:pPr algn="ctr">
              <a:spcAft>
                <a:spcPts val="400"/>
              </a:spcAft>
              <a:defRPr sz="115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lang="ru-RU" dirty="0"/>
              <a:t>Объединение всех частей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393192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FF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defRPr sz="1300" b="1">
                <a:solidFill>
                  <a:srgbClr val="FFFF64"/>
                </a:solidFill>
                <a:latin typeface="Arial"/>
              </a:defRPr>
            </a:pPr>
            <a:r>
              <a:rPr lang="ru-RU" dirty="0"/>
              <a:t>Винсент</a:t>
            </a:r>
            <a:endParaRPr dirty="0"/>
          </a:p>
          <a:p>
            <a:pPr algn="ctr">
              <a:spcAft>
                <a:spcPts val="800"/>
              </a:spcAft>
              <a:defRPr sz="1600" b="1">
                <a:solidFill>
                  <a:srgbClr val="F0F0F5"/>
                </a:solidFill>
                <a:latin typeface="Arial"/>
              </a:defRPr>
            </a:pPr>
            <a:r>
              <a:rPr dirty="0"/>
              <a:t>Entities &amp; Rendering</a:t>
            </a:r>
          </a:p>
          <a:p>
            <a:pPr algn="ctr">
              <a:spcAft>
                <a:spcPts val="1200"/>
              </a:spcAft>
              <a:defRPr sz="1100">
                <a:solidFill>
                  <a:srgbClr val="00FFC8"/>
                </a:solidFill>
                <a:latin typeface="Courier New"/>
              </a:defRPr>
            </a:pPr>
            <a:r>
              <a:rPr dirty="0" err="1"/>
              <a:t>Файлы</a:t>
            </a:r>
            <a:r>
              <a:rPr dirty="0"/>
              <a:t>: player.py, enemy.py, projectile.py</a:t>
            </a:r>
            <a:r>
              <a:rPr lang="en-US" dirty="0"/>
              <a:t>, utils.py</a:t>
            </a:r>
            <a:endParaRPr dirty="0"/>
          </a:p>
          <a:p>
            <a:pPr algn="ctr">
              <a:spcAft>
                <a:spcPts val="400"/>
              </a:spcAft>
              <a:defRPr sz="1200" b="1">
                <a:solidFill>
                  <a:srgbClr val="F0F0F5"/>
                </a:solidFill>
                <a:latin typeface="Arial"/>
              </a:defRPr>
            </a:pPr>
            <a:r>
              <a:rPr dirty="0" err="1"/>
              <a:t>Обязанности</a:t>
            </a:r>
            <a:r>
              <a:rPr dirty="0"/>
              <a:t>:</a:t>
            </a:r>
          </a:p>
          <a:p>
            <a:pPr algn="ctr">
              <a:spcAft>
                <a:spcPts val="400"/>
              </a:spcAft>
              <a:defRPr sz="115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игрока</a:t>
            </a:r>
            <a:r>
              <a:rPr dirty="0"/>
              <a:t> (Player).</a:t>
            </a:r>
          </a:p>
          <a:p>
            <a:pPr algn="ctr">
              <a:spcAft>
                <a:spcPts val="400"/>
              </a:spcAft>
              <a:defRPr sz="115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Классы</a:t>
            </a:r>
            <a:r>
              <a:rPr dirty="0"/>
              <a:t> </a:t>
            </a:r>
            <a:r>
              <a:rPr dirty="0" err="1"/>
              <a:t>врагов</a:t>
            </a:r>
            <a:r>
              <a:rPr dirty="0"/>
              <a:t> (Drone, Meteorite).</a:t>
            </a:r>
          </a:p>
          <a:p>
            <a:pPr algn="ctr">
              <a:spcAft>
                <a:spcPts val="400"/>
              </a:spcAft>
              <a:defRPr sz="115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снарядов</a:t>
            </a:r>
            <a:r>
              <a:rPr dirty="0"/>
              <a:t> (Projectile).</a:t>
            </a:r>
          </a:p>
          <a:p>
            <a:pPr algn="ctr">
              <a:spcAft>
                <a:spcPts val="400"/>
              </a:spcAft>
              <a:defRPr sz="115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Векторная</a:t>
            </a:r>
            <a:r>
              <a:rPr dirty="0"/>
              <a:t> </a:t>
            </a:r>
            <a:r>
              <a:rPr dirty="0" err="1"/>
              <a:t>отрисовка</a:t>
            </a:r>
            <a:r>
              <a:rPr dirty="0"/>
              <a:t> </a:t>
            </a:r>
            <a:r>
              <a:rPr dirty="0" err="1"/>
              <a:t>объектов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393192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C8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defRPr sz="1300" b="1">
                <a:solidFill>
                  <a:srgbClr val="C800FF"/>
                </a:solidFill>
                <a:latin typeface="Arial"/>
              </a:defRPr>
            </a:pPr>
            <a:r>
              <a:rPr lang="ru-RU" dirty="0"/>
              <a:t>Альберт</a:t>
            </a:r>
            <a:endParaRPr dirty="0"/>
          </a:p>
          <a:p>
            <a:pPr algn="ctr">
              <a:spcAft>
                <a:spcPts val="800"/>
              </a:spcAft>
              <a:defRPr sz="1600" b="1">
                <a:solidFill>
                  <a:srgbClr val="F0F0F5"/>
                </a:solidFill>
                <a:latin typeface="Arial"/>
              </a:defRPr>
            </a:pPr>
            <a:r>
              <a:rPr dirty="0"/>
              <a:t>Game Systems</a:t>
            </a:r>
          </a:p>
          <a:p>
            <a:pPr algn="ctr">
              <a:spcAft>
                <a:spcPts val="1200"/>
              </a:spcAft>
              <a:defRPr sz="1100">
                <a:solidFill>
                  <a:srgbClr val="00FFC8"/>
                </a:solidFill>
                <a:latin typeface="Courier New"/>
              </a:defRPr>
            </a:pPr>
            <a:r>
              <a:rPr dirty="0" err="1"/>
              <a:t>Файлы</a:t>
            </a:r>
            <a:r>
              <a:rPr dirty="0"/>
              <a:t>: menu.py, ui.py, spawner.py, sound.py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F0F0F5"/>
                </a:solidFill>
                <a:latin typeface="Arial"/>
              </a:defRPr>
            </a:pPr>
            <a:r>
              <a:rPr dirty="0" err="1"/>
              <a:t>Обязанности</a:t>
            </a:r>
            <a:r>
              <a:rPr dirty="0"/>
              <a:t>:</a:t>
            </a:r>
          </a:p>
          <a:p>
            <a:pPr algn="ctr">
              <a:spcAft>
                <a:spcPts val="400"/>
              </a:spcAft>
              <a:defRPr sz="115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Главное</a:t>
            </a:r>
            <a:r>
              <a:rPr dirty="0"/>
              <a:t> </a:t>
            </a:r>
            <a:r>
              <a:rPr dirty="0" err="1"/>
              <a:t>меню</a:t>
            </a:r>
            <a:r>
              <a:rPr dirty="0"/>
              <a:t> и </a:t>
            </a:r>
            <a:r>
              <a:rPr dirty="0" err="1"/>
              <a:t>экраны</a:t>
            </a:r>
            <a:r>
              <a:rPr dirty="0"/>
              <a:t> </a:t>
            </a:r>
            <a:r>
              <a:rPr dirty="0" err="1"/>
              <a:t>игры</a:t>
            </a:r>
            <a:r>
              <a:rPr dirty="0"/>
              <a:t>.</a:t>
            </a:r>
          </a:p>
          <a:p>
            <a:pPr algn="ctr">
              <a:spcAft>
                <a:spcPts val="400"/>
              </a:spcAft>
              <a:defRPr sz="115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Игровой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(HUD).</a:t>
            </a:r>
          </a:p>
          <a:p>
            <a:pPr algn="ctr">
              <a:spcAft>
                <a:spcPts val="400"/>
              </a:spcAft>
              <a:defRPr sz="115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Менеджер</a:t>
            </a:r>
            <a:r>
              <a:rPr dirty="0"/>
              <a:t> </a:t>
            </a:r>
            <a:r>
              <a:rPr dirty="0" err="1"/>
              <a:t>звуковых</a:t>
            </a:r>
            <a:r>
              <a:rPr dirty="0"/>
              <a:t> </a:t>
            </a:r>
            <a:r>
              <a:rPr dirty="0" err="1"/>
              <a:t>эффектов</a:t>
            </a:r>
            <a:r>
              <a:rPr dirty="0"/>
              <a:t>.</a:t>
            </a:r>
          </a:p>
          <a:p>
            <a:pPr algn="ctr">
              <a:spcAft>
                <a:spcPts val="400"/>
              </a:spcAft>
              <a:defRPr sz="1150">
                <a:solidFill>
                  <a:srgbClr val="9696A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Алгоритмы</a:t>
            </a:r>
            <a:r>
              <a:rPr dirty="0"/>
              <a:t> </a:t>
            </a:r>
            <a:r>
              <a:rPr dirty="0" err="1"/>
              <a:t>спавна</a:t>
            </a:r>
            <a:r>
              <a:rPr dirty="0"/>
              <a:t> </a:t>
            </a:r>
            <a:r>
              <a:rPr dirty="0" err="1"/>
              <a:t>волн</a:t>
            </a:r>
            <a:r>
              <a:rPr dirty="0"/>
              <a:t> </a:t>
            </a:r>
            <a:r>
              <a:rPr dirty="0" err="1"/>
              <a:t>врагов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64008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058400" cy="6258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00FF"/>
                </a:solidFill>
                <a:latin typeface="Arial"/>
              </a:defRPr>
            </a:pPr>
            <a:r>
              <a:rPr dirty="0"/>
              <a:t>06 / ТЕХНОЛОГИИ</a:t>
            </a:r>
          </a:p>
          <a:p>
            <a:pPr>
              <a:defRPr sz="2800" b="1">
                <a:solidFill>
                  <a:srgbClr val="00FFC8"/>
                </a:solidFill>
                <a:latin typeface="Arial"/>
              </a:defRPr>
            </a:pPr>
            <a:r>
              <a:rPr dirty="0" err="1"/>
              <a:t>Технические</a:t>
            </a:r>
            <a:r>
              <a:rPr dirty="0"/>
              <a:t> </a:t>
            </a:r>
            <a:r>
              <a:rPr dirty="0" err="1"/>
              <a:t>особенност</a:t>
            </a:r>
            <a:r>
              <a:rPr lang="ru-RU" dirty="0"/>
              <a:t>и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9436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0F0F5"/>
                </a:solidFill>
                <a:latin typeface="Arial"/>
              </a:defRPr>
            </a:pPr>
            <a:r>
              <a:rPr dirty="0" err="1"/>
              <a:t>Лучшие</a:t>
            </a:r>
            <a:r>
              <a:rPr dirty="0"/>
              <a:t> </a:t>
            </a:r>
            <a:r>
              <a:rPr dirty="0" err="1"/>
              <a:t>практики</a:t>
            </a:r>
            <a:r>
              <a:rPr dirty="0"/>
              <a:t> </a:t>
            </a:r>
            <a:r>
              <a:rPr dirty="0" err="1"/>
              <a:t>проектирования</a:t>
            </a:r>
            <a:endParaRPr dirty="0"/>
          </a:p>
          <a:p>
            <a:pPr>
              <a:spcBef>
                <a:spcPts val="800"/>
              </a:spcBef>
              <a:defRPr sz="1500" b="1">
                <a:solidFill>
                  <a:srgbClr val="00FFC8"/>
                </a:solidFill>
                <a:latin typeface="Arial"/>
              </a:defRPr>
            </a:pPr>
            <a:r>
              <a:rPr dirty="0"/>
              <a:t>⚡ </a:t>
            </a:r>
            <a:r>
              <a:rPr dirty="0" err="1"/>
              <a:t>Конфигурация</a:t>
            </a:r>
            <a:r>
              <a:rPr dirty="0"/>
              <a:t> в config.py:</a:t>
            </a:r>
          </a:p>
          <a:p>
            <a:pPr>
              <a:spcAft>
                <a:spcPts val="6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балансовые</a:t>
            </a:r>
            <a:r>
              <a:rPr dirty="0"/>
              <a:t> </a:t>
            </a:r>
            <a:r>
              <a:rPr dirty="0" err="1"/>
              <a:t>константы</a:t>
            </a:r>
            <a:r>
              <a:rPr dirty="0"/>
              <a:t> </a:t>
            </a:r>
            <a:r>
              <a:rPr dirty="0" err="1"/>
              <a:t>игры</a:t>
            </a:r>
            <a:r>
              <a:rPr dirty="0"/>
              <a:t> (</a:t>
            </a:r>
            <a:r>
              <a:rPr dirty="0" err="1"/>
              <a:t>скорости</a:t>
            </a:r>
            <a:r>
              <a:rPr dirty="0"/>
              <a:t> </a:t>
            </a:r>
            <a:r>
              <a:rPr dirty="0" err="1"/>
              <a:t>кораблей</a:t>
            </a:r>
            <a:r>
              <a:rPr dirty="0"/>
              <a:t>, </a:t>
            </a:r>
            <a:r>
              <a:rPr dirty="0" err="1"/>
              <a:t>размеры</a:t>
            </a:r>
            <a:r>
              <a:rPr dirty="0"/>
              <a:t> </a:t>
            </a:r>
            <a:r>
              <a:rPr dirty="0" err="1"/>
              <a:t>хитбоксов</a:t>
            </a:r>
            <a:r>
              <a:rPr dirty="0"/>
              <a:t>, </a:t>
            </a:r>
            <a:r>
              <a:rPr dirty="0" err="1"/>
              <a:t>урон</a:t>
            </a:r>
            <a:r>
              <a:rPr dirty="0"/>
              <a:t>,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спавна</a:t>
            </a:r>
            <a:r>
              <a:rPr dirty="0"/>
              <a:t>) </a:t>
            </a:r>
            <a:r>
              <a:rPr dirty="0" err="1"/>
              <a:t>вынесены</a:t>
            </a:r>
            <a:r>
              <a:rPr dirty="0"/>
              <a:t> в </a:t>
            </a:r>
            <a:r>
              <a:rPr dirty="0" err="1"/>
              <a:t>единый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config.py.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менять</a:t>
            </a:r>
            <a:r>
              <a:rPr dirty="0"/>
              <a:t> </a:t>
            </a:r>
            <a:r>
              <a:rPr dirty="0" err="1"/>
              <a:t>сложность</a:t>
            </a:r>
            <a:r>
              <a:rPr dirty="0"/>
              <a:t> </a:t>
            </a:r>
            <a:r>
              <a:rPr dirty="0" err="1"/>
              <a:t>игры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основного</a:t>
            </a:r>
            <a:r>
              <a:rPr dirty="0"/>
              <a:t> </a:t>
            </a:r>
            <a:r>
              <a:rPr dirty="0" err="1"/>
              <a:t>кода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500" b="1">
                <a:solidFill>
                  <a:srgbClr val="00FFC8"/>
                </a:solidFill>
                <a:latin typeface="Arial"/>
              </a:defRPr>
            </a:pPr>
            <a:r>
              <a:rPr dirty="0"/>
              <a:t>⚡ </a:t>
            </a:r>
            <a:r>
              <a:rPr dirty="0" err="1"/>
              <a:t>Оптимальные</a:t>
            </a:r>
            <a:r>
              <a:rPr dirty="0"/>
              <a:t> </a:t>
            </a:r>
            <a:r>
              <a:rPr dirty="0" err="1"/>
              <a:t>хитбоксы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кругах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обеспечения</a:t>
            </a:r>
            <a:r>
              <a:rPr dirty="0"/>
              <a:t> </a:t>
            </a:r>
            <a:r>
              <a:rPr dirty="0" err="1"/>
              <a:t>высокой</a:t>
            </a:r>
            <a:r>
              <a:rPr dirty="0"/>
              <a:t> </a:t>
            </a:r>
            <a:r>
              <a:rPr dirty="0" err="1"/>
              <a:t>производительности</a:t>
            </a:r>
            <a:r>
              <a:rPr dirty="0"/>
              <a:t> и </a:t>
            </a:r>
            <a:r>
              <a:rPr dirty="0" err="1"/>
              <a:t>отсутствия</a:t>
            </a:r>
            <a:r>
              <a:rPr dirty="0"/>
              <a:t> </a:t>
            </a:r>
            <a:r>
              <a:rPr dirty="0" err="1"/>
              <a:t>задержек</a:t>
            </a:r>
            <a:r>
              <a:rPr dirty="0"/>
              <a:t> </a:t>
            </a:r>
            <a:r>
              <a:rPr dirty="0" err="1"/>
              <a:t>коллизии</a:t>
            </a:r>
            <a:r>
              <a:rPr dirty="0"/>
              <a:t> </a:t>
            </a:r>
            <a:r>
              <a:rPr dirty="0" err="1"/>
              <a:t>рассчитываются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алгоритму</a:t>
            </a:r>
            <a:r>
              <a:rPr dirty="0"/>
              <a:t> </a:t>
            </a:r>
            <a:r>
              <a:rPr dirty="0" err="1"/>
              <a:t>расстояния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центрами</a:t>
            </a:r>
            <a:r>
              <a:rPr dirty="0"/>
              <a:t> </a:t>
            </a:r>
            <a:r>
              <a:rPr dirty="0" err="1"/>
              <a:t>кругов</a:t>
            </a:r>
            <a:r>
              <a:rPr dirty="0"/>
              <a:t> (</a:t>
            </a:r>
            <a:r>
              <a:rPr dirty="0" err="1"/>
              <a:t>circle_collision</a:t>
            </a:r>
            <a:r>
              <a:rPr dirty="0"/>
              <a:t>).</a:t>
            </a:r>
          </a:p>
          <a:p>
            <a:pPr>
              <a:spcBef>
                <a:spcPts val="800"/>
              </a:spcBef>
              <a:defRPr sz="1500" b="1">
                <a:solidFill>
                  <a:srgbClr val="00FFC8"/>
                </a:solidFill>
                <a:latin typeface="Arial"/>
              </a:defRPr>
            </a:pPr>
            <a:r>
              <a:rPr dirty="0"/>
              <a:t>⚡ </a:t>
            </a:r>
            <a:r>
              <a:rPr dirty="0" err="1"/>
              <a:t>Модульность</a:t>
            </a:r>
            <a:r>
              <a:rPr dirty="0"/>
              <a:t> и </a:t>
            </a:r>
            <a:r>
              <a:rPr dirty="0" err="1"/>
              <a:t>слабая</a:t>
            </a:r>
            <a:r>
              <a:rPr dirty="0"/>
              <a:t> </a:t>
            </a:r>
            <a:r>
              <a:rPr dirty="0" err="1"/>
              <a:t>связанность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300">
                <a:solidFill>
                  <a:srgbClr val="9696A5"/>
                </a:solidFill>
                <a:latin typeface="Arial"/>
              </a:defRPr>
            </a:pP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модуль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строго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свою</a:t>
            </a:r>
            <a:r>
              <a:rPr dirty="0"/>
              <a:t> </a:t>
            </a:r>
            <a:r>
              <a:rPr dirty="0" err="1"/>
              <a:t>область</a:t>
            </a:r>
            <a:r>
              <a:rPr dirty="0"/>
              <a:t> (</a:t>
            </a:r>
            <a:r>
              <a:rPr dirty="0" err="1"/>
              <a:t>принцип</a:t>
            </a:r>
            <a:r>
              <a:rPr dirty="0"/>
              <a:t> SRP). </a:t>
            </a:r>
            <a:r>
              <a:rPr dirty="0" err="1"/>
              <a:t>Игрок</a:t>
            </a:r>
            <a:r>
              <a:rPr dirty="0"/>
              <a:t> </a:t>
            </a:r>
            <a:r>
              <a:rPr dirty="0" err="1"/>
              <a:t>ничего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знает</a:t>
            </a:r>
            <a:r>
              <a:rPr dirty="0"/>
              <a:t> </a:t>
            </a:r>
            <a:r>
              <a:rPr dirty="0" err="1"/>
              <a:t>про</a:t>
            </a:r>
            <a:r>
              <a:rPr dirty="0"/>
              <a:t> </a:t>
            </a:r>
            <a:r>
              <a:rPr dirty="0" err="1"/>
              <a:t>спавнер</a:t>
            </a:r>
            <a:r>
              <a:rPr dirty="0"/>
              <a:t>, а </a:t>
            </a:r>
            <a:r>
              <a:rPr dirty="0" err="1"/>
              <a:t>враги</a:t>
            </a:r>
            <a:r>
              <a:rPr dirty="0"/>
              <a:t> </a:t>
            </a:r>
            <a:r>
              <a:rPr dirty="0" err="1"/>
              <a:t>общаются</a:t>
            </a:r>
            <a:r>
              <a:rPr dirty="0"/>
              <a:t> с </a:t>
            </a:r>
            <a:r>
              <a:rPr dirty="0" err="1"/>
              <a:t>ядром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четкие</a:t>
            </a:r>
            <a:r>
              <a:rPr dirty="0"/>
              <a:t> </a:t>
            </a:r>
            <a:r>
              <a:rPr dirty="0" err="1"/>
              <a:t>интерфейсы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828800"/>
            <a:ext cx="4297680" cy="3931920"/>
          </a:xfrm>
          <a:prstGeom prst="roundRect">
            <a:avLst/>
          </a:prstGeom>
          <a:solidFill>
            <a:srgbClr val="121220"/>
          </a:solidFill>
          <a:ln w="12700">
            <a:solidFill>
              <a:srgbClr val="C8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C800FF"/>
                </a:solidFill>
                <a:latin typeface="Arial"/>
              </a:defRPr>
            </a:pPr>
            <a:r>
              <a:rPr lang="ru-RU" dirty="0"/>
              <a:t>СТРУКТУРА КАТАЛОГА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en-US" dirty="0" err="1"/>
              <a:t>VoidHunter</a:t>
            </a:r>
            <a:r>
              <a:rPr lang="en-US" dirty="0"/>
              <a:t>/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en-US" dirty="0"/>
              <a:t> ├── assets/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en-US" dirty="0"/>
              <a:t> │    ├── images/        # </a:t>
            </a:r>
            <a:r>
              <a:rPr lang="ru-RU" dirty="0"/>
              <a:t>Спрайты и графика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ru-RU" dirty="0"/>
              <a:t> │    └── </a:t>
            </a:r>
            <a:r>
              <a:rPr lang="en-US" dirty="0"/>
              <a:t>sounds/        # </a:t>
            </a:r>
            <a:r>
              <a:rPr lang="ru-RU" dirty="0"/>
              <a:t>Звуковые эффекты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ru-RU" dirty="0"/>
              <a:t> ├── </a:t>
            </a:r>
            <a:r>
              <a:rPr lang="en-US" dirty="0" err="1"/>
              <a:t>src</a:t>
            </a:r>
            <a:r>
              <a:rPr lang="en-US" dirty="0"/>
              <a:t>/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en-US" dirty="0"/>
              <a:t> │    ├── __init__.py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en-US" dirty="0"/>
              <a:t> │    ├── enemy.py       # </a:t>
            </a:r>
            <a:r>
              <a:rPr lang="ru-RU" dirty="0"/>
              <a:t>Классы противников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ru-RU" dirty="0"/>
              <a:t> │    ├── </a:t>
            </a:r>
            <a:r>
              <a:rPr lang="en-US" dirty="0"/>
              <a:t>game.py        # </a:t>
            </a:r>
            <a:r>
              <a:rPr lang="ru-RU" dirty="0"/>
              <a:t>Игровой цикл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ru-RU" dirty="0"/>
              <a:t> │    ├── </a:t>
            </a:r>
            <a:r>
              <a:rPr lang="en-US" dirty="0"/>
              <a:t>player.py      # </a:t>
            </a:r>
            <a:r>
              <a:rPr lang="ru-RU" dirty="0"/>
              <a:t>Класс игрока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ru-RU" dirty="0"/>
              <a:t> │    ├── </a:t>
            </a:r>
            <a:r>
              <a:rPr lang="en-US" dirty="0"/>
              <a:t>projectile.py  # </a:t>
            </a:r>
            <a:r>
              <a:rPr lang="ru-RU" dirty="0"/>
              <a:t>Класс снарядов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ru-RU" dirty="0"/>
              <a:t> │    ├── </a:t>
            </a:r>
            <a:r>
              <a:rPr lang="en-US" dirty="0"/>
              <a:t>sound.py       # </a:t>
            </a:r>
            <a:r>
              <a:rPr lang="ru-RU" dirty="0"/>
              <a:t>Менеджер звуков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ru-RU" dirty="0"/>
              <a:t> │    ├── </a:t>
            </a:r>
            <a:r>
              <a:rPr lang="en-US" dirty="0"/>
              <a:t>spawner.py     # </a:t>
            </a:r>
            <a:r>
              <a:rPr lang="ru-RU" dirty="0" err="1"/>
              <a:t>Спавнер</a:t>
            </a:r>
            <a:r>
              <a:rPr lang="ru-RU" dirty="0"/>
              <a:t> волн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ru-RU" dirty="0"/>
              <a:t> │    ├── </a:t>
            </a:r>
            <a:r>
              <a:rPr lang="en-US" dirty="0"/>
              <a:t>ui.py          # </a:t>
            </a:r>
            <a:r>
              <a:rPr lang="ru-RU" dirty="0"/>
              <a:t>Меню и </a:t>
            </a:r>
            <a:r>
              <a:rPr lang="en-US" dirty="0"/>
              <a:t>HUD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en-US" dirty="0"/>
              <a:t> │    ├── utils.py       # </a:t>
            </a:r>
            <a:r>
              <a:rPr lang="ru-RU" dirty="0"/>
              <a:t>Коллизии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ru-RU" dirty="0"/>
              <a:t> │    └── </a:t>
            </a:r>
            <a:r>
              <a:rPr lang="en-US" dirty="0"/>
              <a:t>void_core.py   # </a:t>
            </a:r>
            <a:r>
              <a:rPr lang="ru-RU" dirty="0"/>
              <a:t>Сбор </a:t>
            </a:r>
            <a:r>
              <a:rPr lang="en-US" dirty="0" err="1"/>
              <a:t>VoidCore</a:t>
            </a:r>
            <a:endParaRPr lang="en-US" dirty="0"/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ru-RU" dirty="0"/>
              <a:t> ├── </a:t>
            </a:r>
            <a:r>
              <a:rPr lang="en-US" dirty="0"/>
              <a:t>config.py        </a:t>
            </a:r>
            <a:r>
              <a:rPr lang="ru-RU" dirty="0"/>
              <a:t> </a:t>
            </a:r>
            <a:r>
              <a:rPr lang="en-US" dirty="0"/>
              <a:t>  # </a:t>
            </a:r>
            <a:r>
              <a:rPr lang="ru-RU" dirty="0"/>
              <a:t>Параметры игры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ru-RU" dirty="0"/>
              <a:t> ├── </a:t>
            </a:r>
            <a:r>
              <a:rPr lang="en-US" dirty="0"/>
              <a:t>requirements.txt </a:t>
            </a:r>
            <a:r>
              <a:rPr lang="ru-RU" dirty="0"/>
              <a:t> </a:t>
            </a:r>
            <a:r>
              <a:rPr lang="en-US" dirty="0"/>
              <a:t>  # </a:t>
            </a:r>
            <a:r>
              <a:rPr lang="ru-RU" dirty="0"/>
              <a:t>Зависимости</a:t>
            </a:r>
          </a:p>
          <a:p>
            <a:pPr>
              <a:spcAft>
                <a:spcPts val="100"/>
              </a:spcAft>
              <a:defRPr sz="950">
                <a:solidFill>
                  <a:srgbClr val="F0F0F5"/>
                </a:solidFill>
                <a:latin typeface="Courier New"/>
              </a:defRPr>
            </a:pPr>
            <a:r>
              <a:rPr lang="ru-RU" dirty="0"/>
              <a:t> └── </a:t>
            </a:r>
            <a:r>
              <a:rPr lang="en-US" dirty="0"/>
              <a:t>main.py         </a:t>
            </a:r>
            <a:r>
              <a:rPr lang="ru-RU" dirty="0"/>
              <a:t> </a:t>
            </a:r>
            <a:r>
              <a:rPr lang="en-US" dirty="0"/>
              <a:t>   # </a:t>
            </a:r>
            <a:r>
              <a:rPr lang="ru-RU" dirty="0"/>
              <a:t>Точка входа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799" y="1951672"/>
            <a:ext cx="8534095" cy="29546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00FFC8"/>
                </a:solidFill>
                <a:latin typeface="Arial"/>
              </a:defRPr>
            </a:pPr>
            <a:r>
              <a:rPr lang="ru-RU" sz="9600" dirty="0"/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828</Words>
  <Application>Microsoft Office PowerPoint</Application>
  <PresentationFormat>Широкоэкранный</PresentationFormat>
  <Paragraphs>113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Chatty Toaster</cp:lastModifiedBy>
  <cp:revision>4</cp:revision>
  <dcterms:created xsi:type="dcterms:W3CDTF">2013-01-27T09:14:16Z</dcterms:created>
  <dcterms:modified xsi:type="dcterms:W3CDTF">2026-06-29T05:00:07Z</dcterms:modified>
  <cp:category/>
</cp:coreProperties>
</file>